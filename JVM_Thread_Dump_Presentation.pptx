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1200">
        <a:latin typeface="+mn-lt"/>
        <a:ea typeface="+mn-ea"/>
        <a:cs typeface="+mn-cs"/>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4" cy="1162050"/>
          </a:xfrm>
          <a:prstGeom prst="rect">
            <a:avLst/>
          </a:prstGeom>
        </p:spPr>
        <p:txBody>
          <a:bodyPr anchor="b"/>
          <a:lstStyle>
            <a:lvl1pPr algn="l">
              <a:defRPr b="1" sz="2000"/>
            </a:lvl1pPr>
          </a:lstStyle>
          <a:p>
            <a:pPr/>
            <a:r>
              <a:t>Title Text</a:t>
            </a:r>
          </a:p>
        </p:txBody>
      </p:sp>
      <p:sp>
        <p:nvSpPr>
          <p:cNvPr id="73" name="Body Level One…"/>
          <p:cNvSpPr txBox="1"/>
          <p:nvPr>
            <p:ph type="body"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half" idx="21"/>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1" cy="566738"/>
          </a:xfrm>
          <a:prstGeom prst="rect">
            <a:avLst/>
          </a:prstGeom>
        </p:spPr>
        <p:txBody>
          <a:bodyPr anchor="b"/>
          <a:lstStyle>
            <a:lvl1pPr algn="l">
              <a:defRPr b="1" sz="2000"/>
            </a:lvl1pPr>
          </a:lstStyle>
          <a:p>
            <a:pPr/>
            <a:r>
              <a:t>Title Text</a:t>
            </a:r>
          </a:p>
        </p:txBody>
      </p:sp>
      <p:sp>
        <p:nvSpPr>
          <p:cNvPr id="83" name="Picture Placeholder 2"/>
          <p:cNvSpPr/>
          <p:nvPr>
            <p:ph type="pic" sz="half" idx="21"/>
          </p:nvPr>
        </p:nvSpPr>
        <p:spPr>
          <a:xfrm>
            <a:off x="1792288" y="612775"/>
            <a:ext cx="5486401" cy="4114800"/>
          </a:xfrm>
          <a:prstGeom prst="rect">
            <a:avLst/>
          </a:prstGeom>
        </p:spPr>
        <p:txBody>
          <a:bodyPr lIns="91439" rIns="91439">
            <a:noAutofit/>
          </a:bodyPr>
          <a:lstStyle/>
          <a:p>
            <a:pPr/>
          </a:p>
        </p:txBody>
      </p:sp>
      <p:sp>
        <p:nvSpPr>
          <p:cNvPr id="84" name="Body Level One…"/>
          <p:cNvSpPr txBox="1"/>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274638"/>
            <a:ext cx="8229600" cy="11430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457200" y="1600200"/>
            <a:ext cx="8229600" cy="4525963"/>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1pPr>
      <a:lvl2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2pPr>
      <a:lvl3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3pPr>
      <a:lvl4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4pPr>
      <a:lvl5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5pPr>
      <a:lvl6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6pPr>
      <a:lvl7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7pPr>
      <a:lvl8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8pPr>
      <a:lvl9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Title 1"/>
          <p:cNvSpPr txBox="1"/>
          <p:nvPr>
            <p:ph type="ctrTitle"/>
          </p:nvPr>
        </p:nvSpPr>
        <p:spPr>
          <a:prstGeom prst="rect">
            <a:avLst/>
          </a:prstGeom>
        </p:spPr>
        <p:txBody>
          <a:bodyPr/>
          <a:lstStyle/>
          <a:p>
            <a:pPr/>
            <a:r>
              <a:t>Understanding JVM Thread Dumps</a:t>
            </a:r>
          </a:p>
        </p:txBody>
      </p:sp>
      <p:sp>
        <p:nvSpPr>
          <p:cNvPr id="95" name="Subtitle 2"/>
          <p:cNvSpPr txBox="1"/>
          <p:nvPr>
            <p:ph type="subTitle" sz="quarter" idx="1"/>
          </p:nvPr>
        </p:nvSpPr>
        <p:spPr>
          <a:prstGeom prst="rect">
            <a:avLst/>
          </a:prstGeom>
        </p:spPr>
        <p:txBody>
          <a:bodyPr/>
          <a:lstStyle/>
          <a:p>
            <a:pPr/>
            <a:r>
              <a:t>A 5-minute guide to analyzing Java thread dumps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 name="Title 1"/>
          <p:cNvSpPr txBox="1"/>
          <p:nvPr>
            <p:ph type="title"/>
          </p:nvPr>
        </p:nvSpPr>
        <p:spPr>
          <a:prstGeom prst="rect">
            <a:avLst/>
          </a:prstGeom>
        </p:spPr>
        <p:txBody>
          <a:bodyPr/>
          <a:lstStyle/>
          <a:p>
            <a:pPr/>
            <a:r>
              <a:t>What is a Thread Dump?</a:t>
            </a:r>
          </a:p>
        </p:txBody>
      </p:sp>
      <p:sp>
        <p:nvSpPr>
          <p:cNvPr id="98" name="Content Placeholder 2"/>
          <p:cNvSpPr txBox="1"/>
          <p:nvPr>
            <p:ph type="body" idx="1"/>
          </p:nvPr>
        </p:nvSpPr>
        <p:spPr>
          <a:xfrm>
            <a:off x="457200" y="1600200"/>
            <a:ext cx="8229600" cy="4525963"/>
          </a:xfrm>
          <a:prstGeom prst="rect">
            <a:avLst/>
          </a:prstGeom>
        </p:spPr>
        <p:txBody>
          <a:bodyPr/>
          <a:lstStyle/>
          <a:p>
            <a:pPr/>
            <a:r>
              <a:t>- A snapshot of all active threads in the JVM</a:t>
            </a:r>
          </a:p>
          <a:p>
            <a:pPr/>
            <a:r>
              <a:t>- Shows thread states, stack traces, and locks</a:t>
            </a:r>
          </a:p>
          <a:p>
            <a:pPr/>
            <a:r>
              <a:t>- Used for diagnosing performance and deadlock issues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 name="Title 1"/>
          <p:cNvSpPr txBox="1"/>
          <p:nvPr>
            <p:ph type="title"/>
          </p:nvPr>
        </p:nvSpPr>
        <p:spPr>
          <a:prstGeom prst="rect">
            <a:avLst/>
          </a:prstGeom>
        </p:spPr>
        <p:txBody>
          <a:bodyPr/>
          <a:lstStyle/>
          <a:p>
            <a:pPr/>
            <a:r>
              <a:t>Why Take a Thread Dump?</a:t>
            </a:r>
          </a:p>
        </p:txBody>
      </p:sp>
      <p:sp>
        <p:nvSpPr>
          <p:cNvPr id="101" name="Content Placeholder 2"/>
          <p:cNvSpPr txBox="1"/>
          <p:nvPr>
            <p:ph type="body" idx="1"/>
          </p:nvPr>
        </p:nvSpPr>
        <p:spPr>
          <a:xfrm>
            <a:off x="457200" y="1600200"/>
            <a:ext cx="8229600" cy="4525963"/>
          </a:xfrm>
          <a:prstGeom prst="rect">
            <a:avLst/>
          </a:prstGeom>
        </p:spPr>
        <p:txBody>
          <a:bodyPr/>
          <a:lstStyle/>
          <a:p>
            <a:pPr/>
            <a:r>
              <a:t>Thread dumps help diagnose:</a:t>
            </a:r>
          </a:p>
          <a:p>
            <a:pPr/>
            <a:r>
              <a:t>- Application hangs or freezes</a:t>
            </a:r>
          </a:p>
          <a:p>
            <a:pPr/>
            <a:r>
              <a:t>- High CPU or memory usage</a:t>
            </a:r>
          </a:p>
          <a:p>
            <a:pPr/>
            <a:r>
              <a:t>- Deadlocks and slow response times</a:t>
            </a:r>
          </a:p>
          <a:p>
            <a:pPr/>
          </a:p>
          <a:p>
            <a:pPr/>
            <a:r>
              <a:t>They help find root causes of concurrency problems.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3" name="Title 1"/>
          <p:cNvSpPr txBox="1"/>
          <p:nvPr>
            <p:ph type="title"/>
          </p:nvPr>
        </p:nvSpPr>
        <p:spPr>
          <a:prstGeom prst="rect">
            <a:avLst/>
          </a:prstGeom>
        </p:spPr>
        <p:txBody>
          <a:bodyPr/>
          <a:lstStyle/>
          <a:p>
            <a:pPr/>
            <a:r>
              <a:t>How to Take a Thread Dump</a:t>
            </a:r>
          </a:p>
        </p:txBody>
      </p:sp>
      <p:sp>
        <p:nvSpPr>
          <p:cNvPr id="104" name="Content Placeholder 2"/>
          <p:cNvSpPr txBox="1"/>
          <p:nvPr>
            <p:ph type="body" idx="1"/>
          </p:nvPr>
        </p:nvSpPr>
        <p:spPr>
          <a:xfrm>
            <a:off x="457200" y="1600200"/>
            <a:ext cx="8229600" cy="4525963"/>
          </a:xfrm>
          <a:prstGeom prst="rect">
            <a:avLst/>
          </a:prstGeom>
        </p:spPr>
        <p:txBody>
          <a:bodyPr/>
          <a:lstStyle/>
          <a:p>
            <a:pPr/>
            <a:r>
              <a:t>Common methods:</a:t>
            </a:r>
          </a:p>
          <a:p>
            <a:pPr/>
            <a:r>
              <a:t>- `jstack &lt;pid&gt;` (JDK tool)</a:t>
            </a:r>
          </a:p>
          <a:p>
            <a:pPr/>
            <a:r>
              <a:t>- `kill -3 &lt;pid&gt;` on Linux or Ctrl+Break on Windows</a:t>
            </a:r>
          </a:p>
          <a:p>
            <a:pPr/>
            <a:r>
              <a:t>- VisualVM, JConsole, or Mission Control</a:t>
            </a:r>
          </a:p>
          <a:p>
            <a:pPr/>
          </a:p>
          <a:p>
            <a:pPr/>
            <a:r>
              <a:t>Tip: Take multiple dumps a few seconds apart.</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6" name="Title 1"/>
          <p:cNvSpPr txBox="1"/>
          <p:nvPr>
            <p:ph type="title"/>
          </p:nvPr>
        </p:nvSpPr>
        <p:spPr>
          <a:prstGeom prst="rect">
            <a:avLst/>
          </a:prstGeom>
        </p:spPr>
        <p:txBody>
          <a:bodyPr/>
          <a:lstStyle/>
          <a:p>
            <a:pPr/>
            <a:r>
              <a:t>Reading a Thread Dump</a:t>
            </a:r>
          </a:p>
        </p:txBody>
      </p:sp>
      <p:sp>
        <p:nvSpPr>
          <p:cNvPr id="107" name="Content Placeholder 2"/>
          <p:cNvSpPr txBox="1"/>
          <p:nvPr>
            <p:ph type="body" idx="1"/>
          </p:nvPr>
        </p:nvSpPr>
        <p:spPr>
          <a:xfrm>
            <a:off x="457200" y="1600200"/>
            <a:ext cx="8229600" cy="4525963"/>
          </a:xfrm>
          <a:prstGeom prst="rect">
            <a:avLst/>
          </a:prstGeom>
        </p:spPr>
        <p:txBody>
          <a:bodyPr/>
          <a:lstStyle/>
          <a:p>
            <a:pPr/>
            <a:r>
              <a:t>Focus on:</a:t>
            </a:r>
          </a:p>
          <a:p>
            <a:pPr/>
            <a:r>
              <a:t>- Thread name and ID</a:t>
            </a:r>
          </a:p>
          <a:p>
            <a:pPr/>
            <a:r>
              <a:t>- State (RUNNABLE, WAITING, BLOCKED)</a:t>
            </a:r>
          </a:p>
          <a:p>
            <a:pPr/>
            <a:r>
              <a:t>- Stack trace and locks</a:t>
            </a:r>
          </a:p>
          <a:p>
            <a:pPr/>
          </a:p>
          <a:p>
            <a:pPr/>
            <a:r>
              <a:t>Look for threads in BLOCKED or WAITING states.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9" name="Title 1"/>
          <p:cNvSpPr txBox="1"/>
          <p:nvPr>
            <p:ph type="title"/>
          </p:nvPr>
        </p:nvSpPr>
        <p:spPr>
          <a:prstGeom prst="rect">
            <a:avLst/>
          </a:prstGeom>
        </p:spPr>
        <p:txBody>
          <a:bodyPr/>
          <a:lstStyle/>
          <a:p>
            <a:pPr/>
            <a:r>
              <a:t>Example Snippet</a:t>
            </a:r>
          </a:p>
        </p:txBody>
      </p:sp>
      <p:sp>
        <p:nvSpPr>
          <p:cNvPr id="110" name="Content Placeholder 2"/>
          <p:cNvSpPr txBox="1"/>
          <p:nvPr>
            <p:ph type="body" idx="1"/>
          </p:nvPr>
        </p:nvSpPr>
        <p:spPr>
          <a:xfrm>
            <a:off x="457200" y="1600200"/>
            <a:ext cx="8229600" cy="4525963"/>
          </a:xfrm>
          <a:prstGeom prst="rect">
            <a:avLst/>
          </a:prstGeom>
        </p:spPr>
        <p:txBody>
          <a:bodyPr/>
          <a:lstStyle/>
          <a:p>
            <a:pPr/>
            <a:r>
              <a:t>"main" #1 prio=5 RUNNABLE</a:t>
            </a:r>
          </a:p>
          <a:p>
            <a:pPr/>
            <a:r>
              <a:t>   at com.example.Service.process(Service.java:45)</a:t>
            </a:r>
          </a:p>
          <a:p>
            <a:pPr/>
            <a:r>
              <a:t>   at java.lang.Thread.run(Thread.java:834)</a:t>
            </a:r>
          </a:p>
          <a:p>
            <a:pPr/>
          </a:p>
          <a:p>
            <a:pPr/>
            <a:r>
              <a:t>→ The main thread is active — this is normal behavior.</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2" name="Title 1"/>
          <p:cNvSpPr txBox="1"/>
          <p:nvPr>
            <p:ph type="title"/>
          </p:nvPr>
        </p:nvSpPr>
        <p:spPr>
          <a:prstGeom prst="rect">
            <a:avLst/>
          </a:prstGeom>
        </p:spPr>
        <p:txBody>
          <a:bodyPr/>
          <a:lstStyle/>
          <a:p>
            <a:pPr/>
            <a:r>
              <a:t>Tips &amp; Best Practices</a:t>
            </a:r>
          </a:p>
        </p:txBody>
      </p:sp>
      <p:sp>
        <p:nvSpPr>
          <p:cNvPr id="113" name="Content Placeholder 2"/>
          <p:cNvSpPr txBox="1"/>
          <p:nvPr>
            <p:ph type="body" idx="1"/>
          </p:nvPr>
        </p:nvSpPr>
        <p:spPr>
          <a:xfrm>
            <a:off x="457200" y="1600200"/>
            <a:ext cx="8229600" cy="4525963"/>
          </a:xfrm>
          <a:prstGeom prst="rect">
            <a:avLst/>
          </a:prstGeom>
        </p:spPr>
        <p:txBody>
          <a:bodyPr/>
          <a:lstStyle/>
          <a:p>
            <a:pPr/>
            <a:r>
              <a:t>- Collect 3–5 dumps at short intervals</a:t>
            </a:r>
          </a:p>
          <a:p>
            <a:pPr/>
            <a:r>
              <a:t>- Use analyzers like TDA, Samurai, or fastThread.io</a:t>
            </a:r>
          </a:p>
          <a:p>
            <a:pPr/>
            <a:r>
              <a:t>- Correlate with CPU usage and logs for better context</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Title 1"/>
          <p:cNvSpPr txBox="1"/>
          <p:nvPr>
            <p:ph type="title"/>
          </p:nvPr>
        </p:nvSpPr>
        <p:spPr>
          <a:prstGeom prst="rect">
            <a:avLst/>
          </a:prstGeom>
        </p:spPr>
        <p:txBody>
          <a:bodyPr/>
          <a:lstStyle/>
          <a:p>
            <a:pPr/>
            <a:r>
              <a:t>Summary</a:t>
            </a:r>
          </a:p>
        </p:txBody>
      </p:sp>
      <p:sp>
        <p:nvSpPr>
          <p:cNvPr id="116" name="Content Placeholder 2"/>
          <p:cNvSpPr txBox="1"/>
          <p:nvPr>
            <p:ph type="body" idx="1"/>
          </p:nvPr>
        </p:nvSpPr>
        <p:spPr>
          <a:xfrm>
            <a:off x="457200" y="1600200"/>
            <a:ext cx="8229600" cy="4525963"/>
          </a:xfrm>
          <a:prstGeom prst="rect">
            <a:avLst/>
          </a:prstGeom>
        </p:spPr>
        <p:txBody>
          <a:bodyPr/>
          <a:lstStyle/>
          <a:p>
            <a:pPr/>
            <a:r>
              <a:t>- Thread dumps are key for troubleshooting JVM issues</a:t>
            </a:r>
          </a:p>
          <a:p>
            <a:pPr/>
            <a:r>
              <a:t>- Reveal thread states and bottlenecks</a:t>
            </a:r>
          </a:p>
          <a:p>
            <a:pPr/>
            <a:r>
              <a:t>- Essential for debugging performance and deadlocks</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Double-click to edit"/>
          <p:cNvSpPr txBox="1"/>
          <p:nvPr>
            <p:ph type="subTitle" sz="quarter" idx="1"/>
          </p:nvPr>
        </p:nvSpPr>
        <p:spPr>
          <a:xfrm>
            <a:off x="235206" y="2340176"/>
            <a:ext cx="6400801" cy="1752601"/>
          </a:xfrm>
          <a:prstGeom prst="rect">
            <a:avLst/>
          </a:prstGeom>
        </p:spPr>
        <p:txBody>
          <a:bodyPr/>
          <a:lstStyle/>
          <a:p>
            <a:pPr/>
          </a:p>
        </p:txBody>
      </p:sp>
      <p:sp>
        <p:nvSpPr>
          <p:cNvPr id="119" name="https://lp.jetbrains.com/intellij-idea-profiler/?source=google&amp;medium=cpc&amp;campaign=AMER_en_BR_IDEA_Profiler_Search&amp;term=thread%20dump%20java&amp;content=693444002336&amp;gad_source=1&amp;gad_campaignid=13998618136&amp;gbraid=0AAAAADloJzj7g_Snbgp1Aiyp-MDva8_ai&amp;gclid=CjwK"/>
          <p:cNvSpPr txBox="1"/>
          <p:nvPr/>
        </p:nvSpPr>
        <p:spPr>
          <a:xfrm>
            <a:off x="130616" y="603678"/>
            <a:ext cx="9067762" cy="15014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r>
              <a:t>https://lp.jetbrains.com/intellij-idea-profiler/?source=google&amp;medium=cpc&amp;campaign=AMER_en_BR_IDEA_Profiler_Search&amp;term=thread%20dump%20java&amp;content=693444002336&amp;gad_source=1&amp;gad_campaignid=13998618136&amp;gbraid=0AAAAADloJzj7g_Snbgp1Aiyp-MDva8_ai&amp;gclid=CjwKCAiAt8bIBhBpEiwAzH1w6VvZyIYJ5aHHc-RQlFWSNDFXaNBOLW4fkdeEvPfUCP-Nykv1lMzGmBoCnDYQAvD_BwE</a:t>
            </a:r>
          </a:p>
        </p:txBody>
      </p:sp>
      <p:sp>
        <p:nvSpPr>
          <p:cNvPr id="120" name="A JVM thread dump provides a snapshot of all active threads within a Java Virtual Machine at a specific point in time, offering crucial insights for diagnosing performance issues, deadlocks, and resource contention. Deep knowledge of thread dumps involve"/>
          <p:cNvSpPr txBox="1"/>
          <p:nvPr/>
        </p:nvSpPr>
        <p:spPr>
          <a:xfrm>
            <a:off x="0" y="0"/>
            <a:ext cx="9184640" cy="2206720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defRPr sz="1600">
                <a:solidFill>
                  <a:srgbClr val="E6E8F0"/>
                </a:solidFill>
                <a:latin typeface="Arial"/>
                <a:ea typeface="Arial"/>
                <a:cs typeface="Arial"/>
                <a:sym typeface="Arial"/>
              </a:defRPr>
            </a:pPr>
            <a:r>
              <a:t>A JVM thread dump provides a snapshot of all active threads within a Java Virtual Machine at a specific point in time, offering crucial insights for diagnosing performance issues, deadlocks, and resource contention. Deep knowledge of thread dumps involves understanding their structure, thread states, and how to interpret the information contained within them. </a:t>
            </a:r>
            <a:endParaRPr>
              <a:solidFill>
                <a:srgbClr val="A8C7FA"/>
              </a:solidFill>
            </a:endParaRPr>
          </a:p>
          <a:p>
            <a:pPr>
              <a:defRPr sz="1600">
                <a:solidFill>
                  <a:srgbClr val="E8E8E8"/>
                </a:solidFill>
                <a:latin typeface="Arial"/>
                <a:ea typeface="Arial"/>
                <a:cs typeface="Arial"/>
                <a:sym typeface="Arial"/>
              </a:defRPr>
            </a:pPr>
          </a:p>
          <a:p>
            <a:pPr>
              <a:defRPr b="1" sz="2000">
                <a:solidFill>
                  <a:srgbClr val="E6E8F0"/>
                </a:solidFill>
                <a:latin typeface="Arial"/>
                <a:ea typeface="Arial"/>
                <a:cs typeface="Arial"/>
                <a:sym typeface="Arial"/>
              </a:defRPr>
            </a:pPr>
            <a:r>
              <a:t>1. Generating a Thread Dump:</a:t>
            </a:r>
          </a:p>
          <a:p>
            <a:pPr>
              <a:defRPr b="1" sz="2000">
                <a:solidFill>
                  <a:srgbClr val="E6E8F0"/>
                </a:solidFill>
                <a:latin typeface="Arial"/>
                <a:ea typeface="Arial"/>
                <a:cs typeface="Arial"/>
                <a:sym typeface="Arial"/>
              </a:defRPr>
            </a:pPr>
            <a:r>
              <a:t>Several methods exist to generate a thread dump:</a:t>
            </a:r>
          </a:p>
          <a:p>
            <a:pPr marL="457200" indent="-317500">
              <a:buClr>
                <a:srgbClr val="E6E8F0"/>
              </a:buClr>
              <a:buSzPct val="100000"/>
              <a:buFont typeface="Courier"/>
              <a:buChar char="•"/>
              <a:defRPr sz="1600">
                <a:solidFill>
                  <a:srgbClr val="E6E8F0"/>
                </a:solidFill>
                <a:latin typeface="Arial"/>
                <a:ea typeface="Arial"/>
                <a:cs typeface="Arial"/>
                <a:sym typeface="Arial"/>
              </a:defRPr>
            </a:pPr>
            <a:r>
              <a:rPr>
                <a:latin typeface="Courier"/>
                <a:ea typeface="Courier"/>
                <a:cs typeface="Courier"/>
                <a:sym typeface="Courier"/>
              </a:rPr>
              <a:t>jstack</a:t>
            </a:r>
            <a:r>
              <a:t> utility: This command-line tool, part of the JDK, connects to a running JVM and prints the thread dump to the console or a file.</a:t>
            </a:r>
          </a:p>
          <a:p>
            <a:pPr>
              <a:defRPr sz="1400">
                <a:solidFill>
                  <a:srgbClr val="E6E8F0"/>
                </a:solidFill>
                <a:latin typeface="Arial"/>
                <a:ea typeface="Arial"/>
                <a:cs typeface="Arial"/>
                <a:sym typeface="Arial"/>
              </a:defRPr>
            </a:pPr>
            <a:r>
              <a:t>Código</a:t>
            </a:r>
          </a:p>
          <a:p>
            <a:pPr algn="ctr">
              <a:defRPr sz="1100">
                <a:solidFill>
                  <a:srgbClr val="A8C7FA"/>
                </a:solidFill>
                <a:latin typeface="+mj-lt"/>
                <a:ea typeface="+mj-ea"/>
                <a:cs typeface="+mj-cs"/>
                <a:sym typeface="Helvetica"/>
              </a:defRPr>
            </a:pPr>
          </a:p>
          <a:p>
            <a:pPr>
              <a:defRPr sz="1400">
                <a:solidFill>
                  <a:srgbClr val="E6E8F0"/>
                </a:solidFill>
                <a:latin typeface="Courier"/>
                <a:ea typeface="Courier"/>
                <a:cs typeface="Courier"/>
                <a:sym typeface="Courier"/>
              </a:defRPr>
            </a:pPr>
            <a:r>
              <a:t>    jstack &lt;pid&gt; &gt; thread_dump.txt</a:t>
            </a:r>
          </a:p>
          <a:p>
            <a:pPr marL="457200" indent="-317500">
              <a:buClr>
                <a:srgbClr val="E6E8F0"/>
              </a:buClr>
              <a:buSzPct val="100000"/>
              <a:buFont typeface="Arial"/>
              <a:buChar char="•"/>
              <a:defRPr sz="1600">
                <a:solidFill>
                  <a:srgbClr val="E6E8F0"/>
                </a:solidFill>
                <a:latin typeface="Arial"/>
                <a:ea typeface="Arial"/>
                <a:cs typeface="Arial"/>
                <a:sym typeface="Arial"/>
              </a:defRPr>
            </a:pPr>
            <a:r>
              <a:rPr>
                <a:latin typeface="Courier"/>
                <a:ea typeface="Courier"/>
                <a:cs typeface="Courier"/>
                <a:sym typeface="Courier"/>
              </a:rPr>
              <a:t>kill -3 &lt;pid&gt;</a:t>
            </a:r>
            <a:r>
              <a:t> (Unix/Linux): Sending a </a:t>
            </a:r>
            <a:r>
              <a:rPr>
                <a:latin typeface="Courier"/>
                <a:ea typeface="Courier"/>
                <a:cs typeface="Courier"/>
                <a:sym typeface="Courier"/>
              </a:rPr>
              <a:t>SIGQUIT</a:t>
            </a:r>
            <a:r>
              <a:t> signal to the Java process will cause the JVM to print a thread dump to its standard error output (usually the console or a log file).</a:t>
            </a:r>
            <a:br/>
            <a:br/>
          </a:p>
          <a:p>
            <a:pPr marL="457200" indent="-317500">
              <a:buClr>
                <a:srgbClr val="E6E8F0"/>
              </a:buClr>
              <a:buSzPct val="100000"/>
              <a:buFont typeface="Arial"/>
              <a:buChar char="•"/>
              <a:defRPr sz="1600">
                <a:solidFill>
                  <a:srgbClr val="E6E8F0"/>
                </a:solidFill>
                <a:latin typeface="Arial"/>
                <a:ea typeface="Arial"/>
                <a:cs typeface="Arial"/>
                <a:sym typeface="Arial"/>
              </a:defRPr>
            </a:pPr>
            <a:r>
              <a:rPr b="1"/>
              <a:t>JVisualVM/JMC:</a:t>
            </a:r>
            <a:r>
              <a:t> These graphical tools offer a more user-friendly way to generate and analyze thread dumps, along with other JVM metrics.</a:t>
            </a:r>
            <a:br/>
            <a:br/>
          </a:p>
          <a:p>
            <a:pPr>
              <a:defRPr b="1" sz="2000">
                <a:solidFill>
                  <a:srgbClr val="E6E8F0"/>
                </a:solidFill>
                <a:latin typeface="Arial"/>
                <a:ea typeface="Arial"/>
                <a:cs typeface="Arial"/>
                <a:sym typeface="Arial"/>
              </a:defRPr>
            </a:pPr>
            <a:r>
              <a:t>2. Understanding Thread Dump Structure:</a:t>
            </a:r>
          </a:p>
          <a:p>
            <a:pPr>
              <a:defRPr b="1" sz="2000">
                <a:solidFill>
                  <a:srgbClr val="E6E8F0"/>
                </a:solidFill>
                <a:latin typeface="Arial"/>
                <a:ea typeface="Arial"/>
                <a:cs typeface="Arial"/>
                <a:sym typeface="Arial"/>
              </a:defRPr>
            </a:pPr>
            <a:r>
              <a:t>A thread dump typically includes:</a:t>
            </a:r>
          </a:p>
          <a:p>
            <a:pPr marL="457200" indent="-317500">
              <a:spcBef>
                <a:spcPts val="800"/>
              </a:spcBef>
              <a:buClr>
                <a:srgbClr val="E6E8F0"/>
              </a:buClr>
              <a:buSzPct val="100000"/>
              <a:buFont typeface="Arial"/>
              <a:buChar char="•"/>
              <a:defRPr sz="1600">
                <a:solidFill>
                  <a:srgbClr val="E6E8F0"/>
                </a:solidFill>
                <a:latin typeface="Arial"/>
                <a:ea typeface="Arial"/>
                <a:cs typeface="Arial"/>
                <a:sym typeface="Arial"/>
              </a:defRPr>
            </a:pPr>
            <a:r>
              <a:rPr b="1"/>
              <a:t>Timestamp and JVM information:</a:t>
            </a:r>
            <a:r>
              <a:t> Details about when the dump was taken and the JVM version.</a:t>
            </a:r>
          </a:p>
          <a:p>
            <a:pPr marL="457200" indent="-317500">
              <a:buClr>
                <a:srgbClr val="E6E8F0"/>
              </a:buClr>
              <a:buSzPct val="100000"/>
              <a:buFont typeface="Arial"/>
              <a:buChar char="•"/>
              <a:defRPr sz="1600">
                <a:solidFill>
                  <a:srgbClr val="E6E8F0"/>
                </a:solidFill>
                <a:latin typeface="Arial"/>
                <a:ea typeface="Arial"/>
                <a:cs typeface="Arial"/>
                <a:sym typeface="Arial"/>
              </a:defRPr>
            </a:pPr>
            <a:r>
              <a:rPr b="1"/>
              <a:t>Thread details:</a:t>
            </a:r>
            <a:r>
              <a:t> For each thread, it lists:</a:t>
            </a:r>
          </a:p>
          <a:p>
            <a:pPr lvl="1" marL="914400" indent="-317500">
              <a:spcBef>
                <a:spcPts val="800"/>
              </a:spcBef>
              <a:buClr>
                <a:srgbClr val="E6E8F0"/>
              </a:buClr>
              <a:buSzPct val="100000"/>
              <a:buFont typeface="Arial"/>
              <a:buChar char="◦"/>
              <a:defRPr sz="1600">
                <a:solidFill>
                  <a:srgbClr val="E6E8F0"/>
                </a:solidFill>
                <a:latin typeface="Arial"/>
                <a:ea typeface="Arial"/>
                <a:cs typeface="Arial"/>
                <a:sym typeface="Arial"/>
              </a:defRPr>
            </a:pPr>
            <a:r>
              <a:rPr b="1"/>
              <a:t>Thread name and ID:</a:t>
            </a:r>
            <a:r>
              <a:t> Unique identifiers for the thread.</a:t>
            </a:r>
          </a:p>
          <a:p>
            <a:pPr lvl="1" marL="914400" indent="-317500">
              <a:spcBef>
                <a:spcPts val="800"/>
              </a:spcBef>
              <a:buClr>
                <a:srgbClr val="E6E8F0"/>
              </a:buClr>
              <a:buSzPct val="100000"/>
              <a:buFont typeface="Arial"/>
              <a:buChar char="◦"/>
              <a:defRPr sz="1600">
                <a:solidFill>
                  <a:srgbClr val="E6E8F0"/>
                </a:solidFill>
                <a:latin typeface="Arial"/>
                <a:ea typeface="Arial"/>
                <a:cs typeface="Arial"/>
                <a:sym typeface="Arial"/>
              </a:defRPr>
            </a:pPr>
            <a:r>
              <a:rPr b="1"/>
              <a:t>Native ID:</a:t>
            </a:r>
            <a:r>
              <a:t> The operating system's thread ID.</a:t>
            </a:r>
          </a:p>
          <a:p>
            <a:pPr lvl="1" marL="914400" indent="-317500">
              <a:spcBef>
                <a:spcPts val="800"/>
              </a:spcBef>
              <a:buClr>
                <a:srgbClr val="E6E8F0"/>
              </a:buClr>
              <a:buSzPct val="100000"/>
              <a:buFont typeface="Arial"/>
              <a:buChar char="◦"/>
              <a:defRPr sz="1600">
                <a:solidFill>
                  <a:srgbClr val="E6E8F0"/>
                </a:solidFill>
                <a:latin typeface="Arial"/>
                <a:ea typeface="Arial"/>
                <a:cs typeface="Arial"/>
                <a:sym typeface="Arial"/>
              </a:defRPr>
            </a:pPr>
            <a:r>
              <a:rPr b="1"/>
              <a:t>State:</a:t>
            </a:r>
            <a:r>
              <a:t> The current state of the thread (e.g., </a:t>
            </a:r>
            <a:r>
              <a:rPr>
                <a:latin typeface="Courier"/>
                <a:ea typeface="Courier"/>
                <a:cs typeface="Courier"/>
                <a:sym typeface="Courier"/>
              </a:rPr>
              <a:t>RUNNABLE</a:t>
            </a:r>
            <a:r>
              <a:t>, </a:t>
            </a:r>
            <a:r>
              <a:rPr>
                <a:latin typeface="Courier"/>
                <a:ea typeface="Courier"/>
                <a:cs typeface="Courier"/>
                <a:sym typeface="Courier"/>
              </a:rPr>
              <a:t>BLOCKED</a:t>
            </a:r>
            <a:r>
              <a:t>, </a:t>
            </a:r>
            <a:r>
              <a:rPr>
                <a:latin typeface="Courier"/>
                <a:ea typeface="Courier"/>
                <a:cs typeface="Courier"/>
                <a:sym typeface="Courier"/>
              </a:rPr>
              <a:t>WAITING</a:t>
            </a:r>
            <a:r>
              <a:t>, </a:t>
            </a:r>
            <a:r>
              <a:rPr>
                <a:latin typeface="Courier"/>
                <a:ea typeface="Courier"/>
                <a:cs typeface="Courier"/>
                <a:sym typeface="Courier"/>
              </a:rPr>
              <a:t>TIMED_WAITING</a:t>
            </a:r>
            <a:r>
              <a:t>, </a:t>
            </a:r>
            <a:r>
              <a:rPr>
                <a:latin typeface="Courier"/>
                <a:ea typeface="Courier"/>
                <a:cs typeface="Courier"/>
                <a:sym typeface="Courier"/>
              </a:rPr>
              <a:t>TERMINATED</a:t>
            </a:r>
            <a:r>
              <a:t>).</a:t>
            </a:r>
          </a:p>
          <a:p>
            <a:pPr lvl="1" marL="914400" indent="-317500">
              <a:spcBef>
                <a:spcPts val="800"/>
              </a:spcBef>
              <a:buClr>
                <a:srgbClr val="E6E8F0"/>
              </a:buClr>
              <a:buSzPct val="100000"/>
              <a:buFont typeface="Arial"/>
              <a:buChar char="◦"/>
              <a:defRPr sz="1600">
                <a:solidFill>
                  <a:srgbClr val="E6E8F0"/>
                </a:solidFill>
                <a:latin typeface="Arial"/>
                <a:ea typeface="Arial"/>
                <a:cs typeface="Arial"/>
                <a:sym typeface="Arial"/>
              </a:defRPr>
            </a:pPr>
            <a:r>
              <a:rPr b="1"/>
              <a:t>Stack trace:</a:t>
            </a:r>
            <a:r>
              <a:t> The sequence of method calls that led the thread to its current state, revealing the code path it is executing.</a:t>
            </a:r>
          </a:p>
          <a:p>
            <a:pPr lvl="1" marL="914400" indent="-317500">
              <a:buClr>
                <a:srgbClr val="E6E8F0"/>
              </a:buClr>
              <a:buSzPct val="100000"/>
              <a:buFont typeface="Arial"/>
              <a:buChar char="◦"/>
              <a:defRPr sz="1600">
                <a:solidFill>
                  <a:srgbClr val="E6E8F0"/>
                </a:solidFill>
                <a:latin typeface="Arial"/>
                <a:ea typeface="Arial"/>
                <a:cs typeface="Arial"/>
                <a:sym typeface="Arial"/>
              </a:defRPr>
            </a:pPr>
            <a:r>
              <a:rPr b="1"/>
              <a:t>Locks and Monitors:</a:t>
            </a:r>
            <a:r>
              <a:t> Information about which locks the thread holds or is waiting to acquire.</a:t>
            </a:r>
          </a:p>
          <a:p>
            <a:pPr>
              <a:defRPr b="1" sz="2000">
                <a:solidFill>
                  <a:srgbClr val="E6E8F0"/>
                </a:solidFill>
                <a:latin typeface="Arial"/>
                <a:ea typeface="Arial"/>
                <a:cs typeface="Arial"/>
                <a:sym typeface="Arial"/>
              </a:defRPr>
            </a:pPr>
            <a:r>
              <a:t>3. Interpreting Thread States:</a:t>
            </a:r>
          </a:p>
          <a:p>
            <a:pPr marL="457200" indent="-317500">
              <a:buClr>
                <a:srgbClr val="E6E8F0"/>
              </a:buClr>
              <a:buSzPct val="100000"/>
              <a:buFont typeface="Courier"/>
              <a:buChar char="•"/>
              <a:defRPr sz="1600">
                <a:solidFill>
                  <a:srgbClr val="E6E8F0"/>
                </a:solidFill>
                <a:latin typeface="Arial"/>
                <a:ea typeface="Arial"/>
                <a:cs typeface="Arial"/>
                <a:sym typeface="Arial"/>
              </a:defRPr>
            </a:pPr>
            <a:r>
              <a:rPr>
                <a:latin typeface="Courier"/>
                <a:ea typeface="Courier"/>
                <a:cs typeface="Courier"/>
                <a:sym typeface="Courier"/>
              </a:rPr>
              <a:t>RUNNABLE</a:t>
            </a:r>
            <a:r>
              <a:t>: The thread is actively executing or ready to be executed by the CPU. High numbers of </a:t>
            </a:r>
            <a:r>
              <a:rPr>
                <a:latin typeface="Courier"/>
                <a:ea typeface="Courier"/>
                <a:cs typeface="Courier"/>
                <a:sym typeface="Courier"/>
              </a:rPr>
              <a:t>RUNNABLE</a:t>
            </a:r>
            <a:r>
              <a:t> threads might indicate CPU-bound tasks or a lack of CPU resources.</a:t>
            </a:r>
            <a:br/>
            <a:br/>
          </a:p>
          <a:p>
            <a:pPr marL="457200" indent="-317500">
              <a:buClr>
                <a:srgbClr val="E6E8F0"/>
              </a:buClr>
              <a:buSzPct val="100000"/>
              <a:buFont typeface="Courier"/>
              <a:buChar char="•"/>
              <a:defRPr sz="1600">
                <a:solidFill>
                  <a:srgbClr val="E6E8F0"/>
                </a:solidFill>
                <a:latin typeface="Arial"/>
                <a:ea typeface="Arial"/>
                <a:cs typeface="Arial"/>
                <a:sym typeface="Arial"/>
              </a:defRPr>
            </a:pPr>
            <a:r>
              <a:rPr>
                <a:latin typeface="Courier"/>
                <a:ea typeface="Courier"/>
                <a:cs typeface="Courier"/>
                <a:sym typeface="Courier"/>
              </a:rPr>
              <a:t>BLOCKED</a:t>
            </a:r>
            <a:r>
              <a:t>: The thread is waiting to acquire a monitor lock that is currently held by another thread. This often points to contention for shared resources or potential deadlocks.</a:t>
            </a:r>
            <a:br/>
            <a:br/>
          </a:p>
          <a:p>
            <a:pPr marL="457200" indent="-317500">
              <a:buClr>
                <a:srgbClr val="E6E8F0"/>
              </a:buClr>
              <a:buSzPct val="100000"/>
              <a:buFont typeface="Courier"/>
              <a:buChar char="•"/>
              <a:defRPr sz="1600">
                <a:solidFill>
                  <a:srgbClr val="E6E8F0"/>
                </a:solidFill>
                <a:latin typeface="Arial"/>
                <a:ea typeface="Arial"/>
                <a:cs typeface="Arial"/>
                <a:sym typeface="Arial"/>
              </a:defRPr>
            </a:pPr>
            <a:r>
              <a:rPr>
                <a:latin typeface="Courier"/>
                <a:ea typeface="Courier"/>
                <a:cs typeface="Courier"/>
                <a:sym typeface="Courier"/>
              </a:rPr>
              <a:t>WAITING</a:t>
            </a:r>
            <a:r>
              <a:t>: The thread is waiting indefinitely for another thread to perform a specific action (e.g., </a:t>
            </a:r>
            <a:r>
              <a:rPr>
                <a:latin typeface="Courier"/>
                <a:ea typeface="Courier"/>
                <a:cs typeface="Courier"/>
                <a:sym typeface="Courier"/>
              </a:rPr>
              <a:t>Object.wait()</a:t>
            </a:r>
            <a:r>
              <a:t>, </a:t>
            </a:r>
            <a:r>
              <a:rPr>
                <a:latin typeface="Courier"/>
                <a:ea typeface="Courier"/>
                <a:cs typeface="Courier"/>
                <a:sym typeface="Courier"/>
              </a:rPr>
              <a:t>Thread.join()</a:t>
            </a:r>
            <a:r>
              <a:t>, </a:t>
            </a:r>
            <a:r>
              <a:rPr>
                <a:latin typeface="Courier"/>
                <a:ea typeface="Courier"/>
                <a:cs typeface="Courier"/>
                <a:sym typeface="Courier"/>
              </a:rPr>
              <a:t>LockSupport.park()</a:t>
            </a:r>
            <a:r>
              <a:t>).</a:t>
            </a:r>
            <a:br/>
            <a:br/>
          </a:p>
          <a:p>
            <a:pPr marL="457200" indent="-317500">
              <a:buClr>
                <a:srgbClr val="E6E8F0"/>
              </a:buClr>
              <a:buSzPct val="100000"/>
              <a:buFont typeface="Courier"/>
              <a:buChar char="•"/>
              <a:defRPr sz="1600">
                <a:solidFill>
                  <a:srgbClr val="E6E8F0"/>
                </a:solidFill>
                <a:latin typeface="Arial"/>
                <a:ea typeface="Arial"/>
                <a:cs typeface="Arial"/>
                <a:sym typeface="Arial"/>
              </a:defRPr>
            </a:pPr>
            <a:r>
              <a:rPr>
                <a:latin typeface="Courier"/>
                <a:ea typeface="Courier"/>
                <a:cs typeface="Courier"/>
                <a:sym typeface="Courier"/>
              </a:rPr>
              <a:t>TIMED_WAITING</a:t>
            </a:r>
            <a:r>
              <a:t>: Similar to </a:t>
            </a:r>
            <a:r>
              <a:rPr>
                <a:latin typeface="Courier"/>
                <a:ea typeface="Courier"/>
                <a:cs typeface="Courier"/>
                <a:sym typeface="Courier"/>
              </a:rPr>
              <a:t>WAITING</a:t>
            </a:r>
            <a:r>
              <a:t>, but the thread is waiting for a specified period (e.g., </a:t>
            </a:r>
            <a:r>
              <a:rPr>
                <a:latin typeface="Courier"/>
                <a:ea typeface="Courier"/>
                <a:cs typeface="Courier"/>
                <a:sym typeface="Courier"/>
              </a:rPr>
              <a:t>Thread.sleep()</a:t>
            </a:r>
            <a:r>
              <a:t>, </a:t>
            </a:r>
            <a:r>
              <a:rPr>
                <a:latin typeface="Courier"/>
                <a:ea typeface="Courier"/>
                <a:cs typeface="Courier"/>
                <a:sym typeface="Courier"/>
              </a:rPr>
              <a:t>Object.wait(long)</a:t>
            </a:r>
            <a:r>
              <a:t>, </a:t>
            </a:r>
            <a:r>
              <a:rPr>
                <a:latin typeface="Courier"/>
                <a:ea typeface="Courier"/>
                <a:cs typeface="Courier"/>
                <a:sym typeface="Courier"/>
              </a:rPr>
              <a:t>LockSupport.parkNanos()</a:t>
            </a:r>
            <a:r>
              <a:t>).</a:t>
            </a:r>
            <a:br/>
            <a:br/>
          </a:p>
          <a:p>
            <a:pPr marL="457200" indent="-317500">
              <a:buClr>
                <a:srgbClr val="E6E8F0"/>
              </a:buClr>
              <a:buSzPct val="100000"/>
              <a:buFont typeface="Courier"/>
              <a:buChar char="•"/>
              <a:defRPr sz="1600">
                <a:solidFill>
                  <a:srgbClr val="E6E8F0"/>
                </a:solidFill>
                <a:latin typeface="Arial"/>
                <a:ea typeface="Arial"/>
                <a:cs typeface="Arial"/>
                <a:sym typeface="Arial"/>
              </a:defRPr>
            </a:pPr>
            <a:r>
              <a:rPr>
                <a:latin typeface="Courier"/>
                <a:ea typeface="Courier"/>
                <a:cs typeface="Courier"/>
                <a:sym typeface="Courier"/>
              </a:rPr>
              <a:t>TERMINATED</a:t>
            </a:r>
            <a:r>
              <a:t>: The thread has completed its execution.</a:t>
            </a:r>
            <a:br/>
            <a:br/>
          </a:p>
          <a:p>
            <a:pPr>
              <a:defRPr b="1" sz="2000">
                <a:solidFill>
                  <a:srgbClr val="E6E8F0"/>
                </a:solidFill>
                <a:latin typeface="Arial"/>
                <a:ea typeface="Arial"/>
                <a:cs typeface="Arial"/>
                <a:sym typeface="Arial"/>
              </a:defRPr>
            </a:pPr>
            <a:r>
              <a:t>4. Analyzing for Performance Issues and Deadlocks:</a:t>
            </a:r>
          </a:p>
          <a:p>
            <a:pPr marL="457200" indent="-317500">
              <a:buClr>
                <a:srgbClr val="E6E8F0"/>
              </a:buClr>
              <a:buSzPct val="100000"/>
              <a:buFont typeface="Arial"/>
              <a:buChar char="•"/>
              <a:defRPr sz="1600">
                <a:solidFill>
                  <a:srgbClr val="E6E8F0"/>
                </a:solidFill>
                <a:latin typeface="Arial"/>
                <a:ea typeface="Arial"/>
                <a:cs typeface="Arial"/>
                <a:sym typeface="Arial"/>
              </a:defRPr>
            </a:pPr>
            <a:r>
              <a:rPr b="1"/>
              <a:t>High CPU Usage:</a:t>
            </a:r>
            <a:r>
              <a:t> Look for numerous </a:t>
            </a:r>
            <a:r>
              <a:rPr>
                <a:latin typeface="Courier"/>
                <a:ea typeface="Courier"/>
                <a:cs typeface="Courier"/>
                <a:sym typeface="Courier"/>
              </a:rPr>
              <a:t>RUNNABLE</a:t>
            </a:r>
            <a:r>
              <a:t> threads, especially if their stack traces indicate computationally intensive operations.</a:t>
            </a:r>
            <a:br/>
            <a:br/>
          </a:p>
          <a:p>
            <a:pPr marL="457200" indent="-317500">
              <a:buClr>
                <a:srgbClr val="E6E8F0"/>
              </a:buClr>
              <a:buSzPct val="100000"/>
              <a:buFont typeface="Arial"/>
              <a:buChar char="•"/>
              <a:defRPr sz="1600">
                <a:solidFill>
                  <a:srgbClr val="E6E8F0"/>
                </a:solidFill>
                <a:latin typeface="Arial"/>
                <a:ea typeface="Arial"/>
                <a:cs typeface="Arial"/>
                <a:sym typeface="Arial"/>
              </a:defRPr>
            </a:pPr>
            <a:r>
              <a:rPr b="1"/>
              <a:t>Application Unresponsiveness/Slowness:</a:t>
            </a:r>
            <a:r>
              <a:t> Investigate </a:t>
            </a:r>
            <a:r>
              <a:rPr>
                <a:latin typeface="Courier"/>
                <a:ea typeface="Courier"/>
                <a:cs typeface="Courier"/>
                <a:sym typeface="Courier"/>
              </a:rPr>
              <a:t>BLOCKED</a:t>
            </a:r>
            <a:r>
              <a:t> and </a:t>
            </a:r>
            <a:r>
              <a:rPr>
                <a:latin typeface="Courier"/>
                <a:ea typeface="Courier"/>
                <a:cs typeface="Courier"/>
                <a:sym typeface="Courier"/>
              </a:rPr>
              <a:t>WAITING</a:t>
            </a:r>
            <a:r>
              <a:t> threads. Identify which locks are being contended and by which threads.</a:t>
            </a:r>
            <a:br/>
            <a:br/>
          </a:p>
          <a:p>
            <a:pPr marL="457200" indent="-317500">
              <a:buClr>
                <a:srgbClr val="E6E8F0"/>
              </a:buClr>
              <a:buSzPct val="100000"/>
              <a:buFont typeface="Arial"/>
              <a:buChar char="•"/>
              <a:defRPr sz="1600">
                <a:solidFill>
                  <a:srgbClr val="E6E8F0"/>
                </a:solidFill>
                <a:latin typeface="Arial"/>
                <a:ea typeface="Arial"/>
                <a:cs typeface="Arial"/>
                <a:sym typeface="Arial"/>
              </a:defRPr>
            </a:pPr>
            <a:r>
              <a:rPr b="1"/>
              <a:t>Deadlocks:</a:t>
            </a:r>
            <a:r>
              <a:t> A deadlock occurs when two or more threads are mutually waiting for each other to release a resource. Thread dumps will show </a:t>
            </a:r>
            <a:r>
              <a:rPr>
                <a:latin typeface="Courier"/>
                <a:ea typeface="Courier"/>
                <a:cs typeface="Courier"/>
                <a:sym typeface="Courier"/>
              </a:rPr>
              <a:t>BLOCKED</a:t>
            </a:r>
            <a:r>
              <a:t> threads waiting for locks held by other </a:t>
            </a:r>
            <a:r>
              <a:rPr>
                <a:latin typeface="Courier"/>
                <a:ea typeface="Courier"/>
                <a:cs typeface="Courier"/>
                <a:sym typeface="Courier"/>
              </a:rPr>
              <a:t>BLOCKED</a:t>
            </a:r>
            <a:r>
              <a:t> threads, forming a cycle. Modern JVMs often detect and report deadlocks explicitly in the dump.</a:t>
            </a:r>
            <a:br/>
            <a:br/>
          </a:p>
          <a:p>
            <a:pPr marL="457200" indent="-317500">
              <a:buClr>
                <a:srgbClr val="E6E8F0"/>
              </a:buClr>
              <a:buSzPct val="100000"/>
              <a:buFont typeface="Arial"/>
              <a:buChar char="•"/>
              <a:defRPr sz="1600">
                <a:solidFill>
                  <a:srgbClr val="E6E8F0"/>
                </a:solidFill>
                <a:latin typeface="Arial"/>
                <a:ea typeface="Arial"/>
                <a:cs typeface="Arial"/>
                <a:sym typeface="Arial"/>
              </a:defRPr>
            </a:pPr>
            <a:r>
              <a:rPr b="1"/>
              <a:t>Long-running tasks:</a:t>
            </a:r>
            <a:r>
              <a:t> Examine stack traces of </a:t>
            </a:r>
            <a:r>
              <a:rPr>
                <a:latin typeface="Courier"/>
                <a:ea typeface="Courier"/>
                <a:cs typeface="Courier"/>
                <a:sym typeface="Courier"/>
              </a:rPr>
              <a:t>RUNNABLE</a:t>
            </a:r>
            <a:r>
              <a:t> threads to identify methods that are taking an unusually long time to execute.</a:t>
            </a:r>
            <a:br/>
            <a:br/>
          </a:p>
          <a:p>
            <a:pPr marL="457200" indent="-317500">
              <a:buClr>
                <a:srgbClr val="E6E8F0"/>
              </a:buClr>
              <a:buSzPct val="100000"/>
              <a:buFont typeface="Arial"/>
              <a:buChar char="•"/>
              <a:defRPr sz="1600">
                <a:solidFill>
                  <a:srgbClr val="E6E8F0"/>
                </a:solidFill>
                <a:latin typeface="Arial"/>
                <a:ea typeface="Arial"/>
                <a:cs typeface="Arial"/>
                <a:sym typeface="Arial"/>
              </a:defRPr>
            </a:pPr>
            <a:r>
              <a:rPr b="1"/>
              <a:t>Resource Contention:</a:t>
            </a:r>
            <a:r>
              <a:t> Look for multiple threads </a:t>
            </a:r>
            <a:r>
              <a:rPr>
                <a:latin typeface="Courier"/>
                <a:ea typeface="Courier"/>
                <a:cs typeface="Courier"/>
                <a:sym typeface="Courier"/>
              </a:rPr>
              <a:t>BLOCKED</a:t>
            </a:r>
            <a:r>
              <a:t> on the same lock, indicating a bottleneck around that synchronized block or object.</a:t>
            </a:r>
            <a:br/>
            <a:br/>
          </a:p>
          <a:p>
            <a:pPr>
              <a:defRPr b="1" sz="2000">
                <a:solidFill>
                  <a:srgbClr val="E6E8F0"/>
                </a:solidFill>
                <a:latin typeface="Arial"/>
                <a:ea typeface="Arial"/>
                <a:cs typeface="Arial"/>
                <a:sym typeface="Arial"/>
              </a:defRPr>
            </a:pPr>
            <a:r>
              <a:t>5. Advanced Considerations:</a:t>
            </a:r>
          </a:p>
          <a:p>
            <a:pPr marL="457200" indent="-317500">
              <a:buClr>
                <a:srgbClr val="E6E8F0"/>
              </a:buClr>
              <a:buSzPct val="100000"/>
              <a:buFont typeface="Arial"/>
              <a:buChar char="•"/>
              <a:defRPr sz="1600">
                <a:solidFill>
                  <a:srgbClr val="E6E8F0"/>
                </a:solidFill>
                <a:latin typeface="Arial"/>
                <a:ea typeface="Arial"/>
                <a:cs typeface="Arial"/>
                <a:sym typeface="Arial"/>
              </a:defRPr>
            </a:pPr>
            <a:r>
              <a:rPr b="1"/>
              <a:t>Multiple Thread Dumps:</a:t>
            </a:r>
            <a:r>
              <a:t> Taking multiple thread dumps over a period (e.g., 5-10 dumps 10-30 seconds apart) provides a more dynamic view of thread activity and helps identify recurring patterns or progressive issues.</a:t>
            </a:r>
            <a:br/>
            <a:br/>
          </a:p>
          <a:p>
            <a:pPr marL="457200" indent="-317500">
              <a:buClr>
                <a:srgbClr val="E6E8F0"/>
              </a:buClr>
              <a:buSzPct val="100000"/>
              <a:buFont typeface="Arial"/>
              <a:buChar char="•"/>
              <a:defRPr sz="1600">
                <a:solidFill>
                  <a:srgbClr val="E6E8F0"/>
                </a:solidFill>
                <a:latin typeface="Arial"/>
                <a:ea typeface="Arial"/>
                <a:cs typeface="Arial"/>
                <a:sym typeface="Arial"/>
              </a:defRPr>
            </a:pPr>
            <a:r>
              <a:rPr b="1"/>
              <a:t>Tooling:</a:t>
            </a:r>
            <a:r>
              <a:t> Specialized thread dump analysis tools (e.g., fastThread, VisualVM, JMC) can automate analysis, visualize thread states, and highlight potential problems like deadlocks or excessive contention.</a:t>
            </a:r>
            <a:br/>
            <a:br/>
          </a:p>
          <a:p>
            <a:pPr marL="457200" indent="-317500">
              <a:buClr>
                <a:srgbClr val="E6E8F0"/>
              </a:buClr>
              <a:buSzPct val="100000"/>
              <a:buFont typeface="Arial"/>
              <a:buChar char="•"/>
              <a:defRPr sz="1600">
                <a:solidFill>
                  <a:srgbClr val="E6E8F0"/>
                </a:solidFill>
                <a:latin typeface="Arial"/>
                <a:ea typeface="Arial"/>
                <a:cs typeface="Arial"/>
                <a:sym typeface="Arial"/>
              </a:defRPr>
            </a:pPr>
            <a:r>
              <a:rPr b="1"/>
              <a:t>JVM Internal Threads:</a:t>
            </a:r>
            <a:r>
              <a:t> Be aware that a thread dump will also include various JVM internal threads (e.g., Garbage Collector threads, JIT compiler threads). Understanding their roles is important to distinguish them from application-specific threads.</a:t>
            </a:r>
            <a:br/>
            <a:b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